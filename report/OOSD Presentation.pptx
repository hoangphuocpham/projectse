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49"/>
  </p:notesMasterIdLst>
  <p:handoutMasterIdLst>
    <p:handoutMasterId r:id="rId50"/>
  </p:handoutMasterIdLst>
  <p:sldIdLst>
    <p:sldId id="295" r:id="rId4"/>
    <p:sldId id="265" r:id="rId5"/>
    <p:sldId id="261" r:id="rId6"/>
    <p:sldId id="337" r:id="rId7"/>
    <p:sldId id="264" r:id="rId8"/>
    <p:sldId id="302" r:id="rId9"/>
    <p:sldId id="303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296" r:id="rId18"/>
    <p:sldId id="304" r:id="rId19"/>
    <p:sldId id="305" r:id="rId20"/>
    <p:sldId id="316" r:id="rId21"/>
    <p:sldId id="317" r:id="rId22"/>
    <p:sldId id="318" r:id="rId23"/>
    <p:sldId id="319" r:id="rId24"/>
    <p:sldId id="297" r:id="rId25"/>
    <p:sldId id="306" r:id="rId26"/>
    <p:sldId id="320" r:id="rId27"/>
    <p:sldId id="321" r:id="rId28"/>
    <p:sldId id="322" r:id="rId29"/>
    <p:sldId id="298" r:id="rId30"/>
    <p:sldId id="307" r:id="rId31"/>
    <p:sldId id="323" r:id="rId32"/>
    <p:sldId id="324" r:id="rId33"/>
    <p:sldId id="325" r:id="rId34"/>
    <p:sldId id="299" r:id="rId35"/>
    <p:sldId id="308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  <p:sldId id="336" r:id="rId47"/>
    <p:sldId id="262" r:id="rId48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5A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1" autoAdjust="0"/>
    <p:restoredTop sz="94660"/>
  </p:normalViewPr>
  <p:slideViewPr>
    <p:cSldViewPr>
      <p:cViewPr varScale="1">
        <p:scale>
          <a:sx n="92" d="100"/>
          <a:sy n="92" d="100"/>
        </p:scale>
        <p:origin x="70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474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051B8-11DC-459A-A28E-F7D258C7D5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659CC9-39DD-4306-BEDB-17D60F687E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86991-E156-4BE0-9C0D-02AFA4CF96F9}" type="datetimeFigureOut">
              <a:rPr lang="ko-KR" altLang="en-US" smtClean="0"/>
              <a:t>2021-05-28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0DBAB0-3D44-4A83-AE92-6B356504C9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AF76F5-ADA4-4AAB-ABA0-41F8A5EFB1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83C48-3F79-4EB3-B071-098702D31D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1099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132E6-B4F4-402E-A483-88FBBB9B0E4C}" type="datetimeFigureOut">
              <a:rPr lang="ko-KR" altLang="en-US" smtClean="0"/>
              <a:t>2021-05-28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81622-CD4D-4762-AB75-C7A32FE55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16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221774"/>
            <a:ext cx="251520" cy="18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684" y="306962"/>
            <a:ext cx="3600400" cy="115212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>
                <a:ea typeface="+mn-ea"/>
              </a:rPr>
              <a:t>FREE PPT TEMPLATES</a:t>
            </a:r>
            <a:endParaRPr lang="en-US" altLang="ko-KR" b="1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1425182"/>
            <a:ext cx="3600400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ko-KR" sz="1400" b="1" dirty="0"/>
              <a:t>INSERT THE TITLE 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400" b="1" dirty="0"/>
              <a:t>OF YOUR PRESENTATION HERE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545954"/>
            <a:ext cx="9144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160118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Oval 1"/>
          <p:cNvSpPr/>
          <p:nvPr userDrawn="1"/>
        </p:nvSpPr>
        <p:spPr>
          <a:xfrm>
            <a:off x="3203848" y="483518"/>
            <a:ext cx="2736304" cy="273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059582"/>
            <a:ext cx="1434734" cy="149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4876006"/>
            <a:ext cx="9144000" cy="2674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B950223-00FB-4696-91A1-2942A42439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53766E37-EEB2-4FF0-8A85-A793B8C241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00392" y="4145959"/>
            <a:ext cx="848311" cy="88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26997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15A12"/>
              </a:solidFill>
            </a:endParaRP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33772" y="2715766"/>
            <a:ext cx="2232248" cy="144016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Columns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600" y="3651870"/>
            <a:ext cx="892306" cy="92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02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71600" y="1779662"/>
            <a:ext cx="7272808" cy="230425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065165" y="633684"/>
            <a:ext cx="3456384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Welcome!!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065017" y="1247848"/>
            <a:ext cx="3456384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Oval 1"/>
          <p:cNvSpPr/>
          <p:nvPr userDrawn="1"/>
        </p:nvSpPr>
        <p:spPr>
          <a:xfrm>
            <a:off x="1403648" y="997099"/>
            <a:ext cx="1584176" cy="158417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247848"/>
            <a:ext cx="951045" cy="99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01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4876006"/>
            <a:ext cx="9144000" cy="2674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702197" y="1650529"/>
            <a:ext cx="1694284" cy="18573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/>
            </a:solidFill>
          </a:ln>
          <a:effectLst/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558602" y="1094745"/>
            <a:ext cx="5693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chemeClr val="accent1"/>
                </a:solidFill>
                <a:latin typeface="+mn-lt"/>
                <a:cs typeface="Arial" pitchFamily="34" charset="0"/>
              </a:rPr>
              <a:t>“</a:t>
            </a:r>
            <a:endParaRPr lang="ko-KR" altLang="en-US" sz="6000" b="1" dirty="0">
              <a:solidFill>
                <a:schemeClr val="accent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 rot="10800000">
            <a:off x="1971109" y="3507855"/>
            <a:ext cx="5693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chemeClr val="accent1"/>
                </a:solidFill>
                <a:latin typeface="+mn-lt"/>
                <a:cs typeface="Arial" pitchFamily="34" charset="0"/>
              </a:rPr>
              <a:t>“</a:t>
            </a:r>
            <a:endParaRPr lang="ko-KR" altLang="en-US" sz="6000" b="1" dirty="0">
              <a:solidFill>
                <a:schemeClr val="accent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5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2705142" y="1650529"/>
            <a:ext cx="1694284" cy="18573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2"/>
            </a:solidFill>
          </a:ln>
          <a:effectLst/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2561547" y="1094745"/>
            <a:ext cx="5693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chemeClr val="accent2"/>
                </a:solidFill>
                <a:latin typeface="+mn-lt"/>
                <a:cs typeface="Arial" pitchFamily="34" charset="0"/>
              </a:rPr>
              <a:t>“</a:t>
            </a:r>
            <a:endParaRPr lang="ko-KR" altLang="en-US" sz="6000" b="1" dirty="0">
              <a:solidFill>
                <a:schemeClr val="accent2"/>
              </a:solidFill>
              <a:latin typeface="+mn-lt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 rot="10800000">
            <a:off x="3974054" y="3507854"/>
            <a:ext cx="5693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chemeClr val="accent2"/>
                </a:solidFill>
                <a:latin typeface="+mn-lt"/>
                <a:cs typeface="Arial" pitchFamily="34" charset="0"/>
              </a:rPr>
              <a:t>“</a:t>
            </a:r>
            <a:endParaRPr lang="ko-KR" altLang="en-US" sz="6000" b="1" dirty="0">
              <a:solidFill>
                <a:schemeClr val="accent2"/>
              </a:solidFill>
              <a:latin typeface="+mn-lt"/>
              <a:cs typeface="Arial" pitchFamily="34" charset="0"/>
            </a:endParaRPr>
          </a:p>
        </p:txBody>
      </p:sp>
      <p:sp>
        <p:nvSpPr>
          <p:cNvPr id="18" name="Picture Placeholder 2"/>
          <p:cNvSpPr>
            <a:spLocks noGrp="1"/>
          </p:cNvSpPr>
          <p:nvPr>
            <p:ph type="pic" idx="21" hasCustomPrompt="1"/>
          </p:nvPr>
        </p:nvSpPr>
        <p:spPr>
          <a:xfrm>
            <a:off x="4708087" y="1650529"/>
            <a:ext cx="1694284" cy="18573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3"/>
            </a:solidFill>
          </a:ln>
          <a:effectLst/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564492" y="1094745"/>
            <a:ext cx="5693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chemeClr val="accent3"/>
                </a:solidFill>
                <a:latin typeface="+mn-lt"/>
                <a:cs typeface="Arial" pitchFamily="34" charset="0"/>
              </a:rPr>
              <a:t>“</a:t>
            </a:r>
            <a:endParaRPr lang="ko-KR" altLang="en-US" sz="6000" b="1" dirty="0">
              <a:solidFill>
                <a:schemeClr val="accent3"/>
              </a:solidFill>
              <a:latin typeface="+mn-lt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 rot="10800000">
            <a:off x="5976999" y="3507854"/>
            <a:ext cx="5693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chemeClr val="accent3"/>
                </a:solidFill>
                <a:latin typeface="+mn-lt"/>
                <a:cs typeface="Arial" pitchFamily="34" charset="0"/>
              </a:rPr>
              <a:t>“</a:t>
            </a:r>
            <a:endParaRPr lang="ko-KR" altLang="en-US" sz="6000" b="1" dirty="0">
              <a:solidFill>
                <a:schemeClr val="accent3"/>
              </a:solidFill>
              <a:latin typeface="+mn-lt"/>
              <a:cs typeface="Arial" pitchFamily="34" charset="0"/>
            </a:endParaRPr>
          </a:p>
        </p:txBody>
      </p:sp>
      <p:sp>
        <p:nvSpPr>
          <p:cNvPr id="24" name="Picture Placeholder 2"/>
          <p:cNvSpPr>
            <a:spLocks noGrp="1"/>
          </p:cNvSpPr>
          <p:nvPr>
            <p:ph type="pic" idx="22" hasCustomPrompt="1"/>
          </p:nvPr>
        </p:nvSpPr>
        <p:spPr>
          <a:xfrm>
            <a:off x="6711032" y="1650529"/>
            <a:ext cx="1694284" cy="18573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4"/>
            </a:solidFill>
          </a:ln>
          <a:effectLst/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5" name="TextBox 24"/>
          <p:cNvSpPr txBox="1"/>
          <p:nvPr userDrawn="1"/>
        </p:nvSpPr>
        <p:spPr>
          <a:xfrm>
            <a:off x="6567437" y="1094745"/>
            <a:ext cx="5693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chemeClr val="accent4"/>
                </a:solidFill>
                <a:latin typeface="+mn-lt"/>
                <a:cs typeface="Arial" pitchFamily="34" charset="0"/>
              </a:rPr>
              <a:t>“</a:t>
            </a:r>
            <a:endParaRPr lang="ko-KR" altLang="en-US" sz="6000" b="1" dirty="0">
              <a:solidFill>
                <a:schemeClr val="accent4"/>
              </a:solidFill>
              <a:latin typeface="+mn-lt"/>
              <a:cs typeface="Arial" pitchFamily="34" charset="0"/>
            </a:endParaRPr>
          </a:p>
        </p:txBody>
      </p:sp>
      <p:sp>
        <p:nvSpPr>
          <p:cNvPr id="26" name="TextBox 25"/>
          <p:cNvSpPr txBox="1"/>
          <p:nvPr userDrawn="1"/>
        </p:nvSpPr>
        <p:spPr>
          <a:xfrm rot="10800000">
            <a:off x="7979944" y="3507854"/>
            <a:ext cx="5693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chemeClr val="accent4"/>
                </a:solidFill>
                <a:latin typeface="+mn-lt"/>
                <a:cs typeface="Arial" pitchFamily="34" charset="0"/>
              </a:rPr>
              <a:t>“</a:t>
            </a:r>
            <a:endParaRPr lang="ko-KR" altLang="en-US" sz="6000" b="1" dirty="0">
              <a:solidFill>
                <a:schemeClr val="accent4"/>
              </a:solidFill>
              <a:latin typeface="+mn-lt"/>
              <a:cs typeface="Arial" pitchFamily="34" charset="0"/>
            </a:endParaRP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51F5F4D-AF26-4E42-A648-9F169B4F9C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45905915-7BC8-4C72-B443-E5B791BC98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00392" y="4145959"/>
            <a:ext cx="848311" cy="88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682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85328"/>
            <a:ext cx="3060911" cy="370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49302" y="1523475"/>
            <a:ext cx="1765288" cy="2726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DC0AA38-FF1B-46A5-B781-E94C0DAF54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C57DDDA-918B-4F4E-B705-53DBB230A5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5506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247" y="1275606"/>
            <a:ext cx="2526010" cy="251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607" y="1275606"/>
            <a:ext cx="2526010" cy="251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48616" y="1374406"/>
            <a:ext cx="2319328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986924" y="1374406"/>
            <a:ext cx="2319328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586A1ABE-161D-4DB1-B774-1153E4471A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7369799-0345-405E-A17B-2F89B880EF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515016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05644" y="0"/>
            <a:ext cx="2532712" cy="16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3305644" y="1743750"/>
            <a:ext cx="2532712" cy="16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3305644" y="3487500"/>
            <a:ext cx="2532712" cy="16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648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24997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3785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838356" y="0"/>
            <a:ext cx="3305644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05644" y="0"/>
            <a:ext cx="2532712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446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 userDrawn="1"/>
        </p:nvSpPr>
        <p:spPr>
          <a:xfrm>
            <a:off x="1225325" y="1276113"/>
            <a:ext cx="3816000" cy="3312000"/>
          </a:xfrm>
          <a:prstGeom prst="frame">
            <a:avLst>
              <a:gd name="adj1" fmla="val 1918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27001" y="555526"/>
            <a:ext cx="3816424" cy="3312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3902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A4689631-BD19-446A-8744-6C48B21546F9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07426" y="418289"/>
            <a:ext cx="7969461" cy="4163237"/>
          </a:xfrm>
          <a:custGeom>
            <a:avLst/>
            <a:gdLst>
              <a:gd name="connsiteX0" fmla="*/ 0 w 7969461"/>
              <a:gd name="connsiteY0" fmla="*/ 0 h 4163237"/>
              <a:gd name="connsiteX1" fmla="*/ 7969461 w 7969461"/>
              <a:gd name="connsiteY1" fmla="*/ 0 h 4163237"/>
              <a:gd name="connsiteX2" fmla="*/ 7969461 w 7969461"/>
              <a:gd name="connsiteY2" fmla="*/ 4163237 h 4163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69461" h="4163237">
                <a:moveTo>
                  <a:pt x="0" y="0"/>
                </a:moveTo>
                <a:lnTo>
                  <a:pt x="7969461" y="0"/>
                </a:lnTo>
                <a:lnTo>
                  <a:pt x="7969461" y="416323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360000" anchor="t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E3AF9713-9B3A-4DAB-9E7B-6351A9AA7B18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43152" y="555241"/>
            <a:ext cx="8002200" cy="4183732"/>
          </a:xfrm>
          <a:custGeom>
            <a:avLst/>
            <a:gdLst>
              <a:gd name="connsiteX0" fmla="*/ 19050 w 8002200"/>
              <a:gd name="connsiteY0" fmla="*/ 0 h 4183732"/>
              <a:gd name="connsiteX1" fmla="*/ 8002200 w 8002200"/>
              <a:gd name="connsiteY1" fmla="*/ 4174207 h 4183732"/>
              <a:gd name="connsiteX2" fmla="*/ 0 w 8002200"/>
              <a:gd name="connsiteY2" fmla="*/ 4183732 h 418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02200" h="4183732">
                <a:moveTo>
                  <a:pt x="19050" y="0"/>
                </a:moveTo>
                <a:lnTo>
                  <a:pt x="8002200" y="4174207"/>
                </a:lnTo>
                <a:lnTo>
                  <a:pt x="0" y="41837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bIns="360000" anchor="b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2353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851672"/>
            <a:ext cx="2232000" cy="28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08000" y="1851672"/>
            <a:ext cx="2232000" cy="28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912000" y="1851672"/>
            <a:ext cx="2232000" cy="28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304000" y="1851672"/>
            <a:ext cx="2232000" cy="2880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BF4C512-4DAE-4643-9257-7408E3DC3D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8EDD950-F5C9-45A4-8368-CFD06C2729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54303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28387278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ounded Rectangle 16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4860032" y="915566"/>
            <a:ext cx="3312368" cy="3312368"/>
            <a:chOff x="5112060" y="1203598"/>
            <a:chExt cx="3312368" cy="3312368"/>
          </a:xfrm>
        </p:grpSpPr>
        <p:sp>
          <p:nvSpPr>
            <p:cNvPr id="3" name="Oval 2"/>
            <p:cNvSpPr/>
            <p:nvPr userDrawn="1"/>
          </p:nvSpPr>
          <p:spPr>
            <a:xfrm>
              <a:off x="5184068" y="1275606"/>
              <a:ext cx="3168352" cy="316835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Oval 6"/>
            <p:cNvSpPr/>
            <p:nvPr userDrawn="1"/>
          </p:nvSpPr>
          <p:spPr>
            <a:xfrm>
              <a:off x="5112060" y="1203598"/>
              <a:ext cx="3312368" cy="3312368"/>
            </a:xfrm>
            <a:prstGeom prst="ellipse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Parallelogram 1"/>
          <p:cNvSpPr/>
          <p:nvPr userDrawn="1"/>
        </p:nvSpPr>
        <p:spPr>
          <a:xfrm>
            <a:off x="0" y="0"/>
            <a:ext cx="4968552" cy="5143500"/>
          </a:xfrm>
          <a:prstGeom prst="parallelogram">
            <a:avLst>
              <a:gd name="adj" fmla="val 5509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932040" y="1923678"/>
            <a:ext cx="3168352" cy="9894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932040" y="2890262"/>
            <a:ext cx="3168352" cy="47357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buNone/>
              <a:defRPr sz="12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</a:t>
            </a:r>
          </a:p>
          <a:p>
            <a:pPr lvl="0"/>
            <a:r>
              <a:rPr lang="en-US" altLang="ko-KR" dirty="0"/>
              <a:t>of your subtitle Here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446" y="1364637"/>
            <a:ext cx="2316681" cy="24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399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4860032" y="915566"/>
            <a:ext cx="3312368" cy="3312368"/>
            <a:chOff x="5112060" y="1203598"/>
            <a:chExt cx="3312368" cy="3312368"/>
          </a:xfrm>
        </p:grpSpPr>
        <p:sp>
          <p:nvSpPr>
            <p:cNvPr id="3" name="Oval 2"/>
            <p:cNvSpPr/>
            <p:nvPr userDrawn="1"/>
          </p:nvSpPr>
          <p:spPr>
            <a:xfrm>
              <a:off x="5184068" y="1275606"/>
              <a:ext cx="3168352" cy="316835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Oval 6"/>
            <p:cNvSpPr/>
            <p:nvPr userDrawn="1"/>
          </p:nvSpPr>
          <p:spPr>
            <a:xfrm>
              <a:off x="5112060" y="1203598"/>
              <a:ext cx="3312368" cy="3312368"/>
            </a:xfrm>
            <a:prstGeom prst="ellipse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Parallelogram 1"/>
          <p:cNvSpPr/>
          <p:nvPr userDrawn="1"/>
        </p:nvSpPr>
        <p:spPr>
          <a:xfrm>
            <a:off x="0" y="0"/>
            <a:ext cx="4968552" cy="5143500"/>
          </a:xfrm>
          <a:prstGeom prst="parallelogram">
            <a:avLst>
              <a:gd name="adj" fmla="val 5509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932040" y="1923678"/>
            <a:ext cx="3168352" cy="9894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932040" y="2890262"/>
            <a:ext cx="3168352" cy="47357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buNone/>
              <a:defRPr sz="12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</a:t>
            </a:r>
          </a:p>
          <a:p>
            <a:pPr lvl="0"/>
            <a:r>
              <a:rPr lang="en-US" altLang="ko-KR" dirty="0"/>
              <a:t>of your subtitle Here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446" y="1364637"/>
            <a:ext cx="2316681" cy="24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 userDrawn="1"/>
        </p:nvSpPr>
        <p:spPr>
          <a:xfrm>
            <a:off x="1225325" y="1276113"/>
            <a:ext cx="3816000" cy="3312000"/>
          </a:xfrm>
          <a:prstGeom prst="frame">
            <a:avLst>
              <a:gd name="adj1" fmla="val 1918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27001" y="555526"/>
            <a:ext cx="3816424" cy="3312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0011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4876006"/>
            <a:ext cx="9144000" cy="2674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B950223-00FB-4696-91A1-2942A42439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53766E37-EEB2-4FF0-8A85-A793B8C241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00392" y="4145959"/>
            <a:ext cx="848311" cy="88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908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26997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15A12"/>
              </a:solidFill>
            </a:endParaRP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33772" y="2715766"/>
            <a:ext cx="2232248" cy="144016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Columns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600" y="3651870"/>
            <a:ext cx="892306" cy="92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18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8" r:id="rId4"/>
    <p:sldLayoutId id="2147483669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70" r:id="rId11"/>
    <p:sldLayoutId id="2147483666" r:id="rId12"/>
    <p:sldLayoutId id="2147483667" r:id="rId13"/>
    <p:sldLayoutId id="2147483671" r:id="rId14"/>
    <p:sldLayoutId id="2147483656" r:id="rId15"/>
    <p:sldLayoutId id="2147483674" r:id="rId16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72" r:id="rId3"/>
    <p:sldLayoutId id="2147483673" r:id="rId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67544" y="555526"/>
            <a:ext cx="5328592" cy="1368152"/>
          </a:xfrm>
        </p:spPr>
        <p:txBody>
          <a:bodyPr/>
          <a:lstStyle/>
          <a:p>
            <a:pPr algn="ctr"/>
            <a:r>
              <a:rPr lang="en-US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Object-oriented software design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395536" y="2211710"/>
            <a:ext cx="3600400" cy="1506608"/>
          </a:xfrm>
        </p:spPr>
        <p:txBody>
          <a:bodyPr/>
          <a:lstStyle/>
          <a:p>
            <a:r>
              <a:rPr lang="en-US" dirty="0"/>
              <a:t>Day: Saturday</a:t>
            </a:r>
          </a:p>
          <a:p>
            <a:r>
              <a:rPr lang="en-US" dirty="0"/>
              <a:t>Period: 7 -10</a:t>
            </a:r>
          </a:p>
          <a:p>
            <a:r>
              <a:rPr lang="en-US" dirty="0"/>
              <a:t>Lecturer: Huynh Xuan Phung</a:t>
            </a:r>
          </a:p>
        </p:txBody>
      </p:sp>
    </p:spTree>
    <p:extLst>
      <p:ext uri="{BB962C8B-B14F-4D97-AF65-F5344CB8AC3E}">
        <p14:creationId xmlns:p14="http://schemas.microsoft.com/office/powerpoint/2010/main" val="458657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Welcome!!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Group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867" y="2559714"/>
            <a:ext cx="61566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Dang Hoang Son – 1811043</a:t>
            </a:r>
          </a:p>
          <a:p>
            <a:pPr algn="ctr"/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Pham Hoang Phuoc – 1811040</a:t>
            </a:r>
          </a:p>
          <a:p>
            <a:pPr algn="ctr"/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Le Trinh Hoang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Phu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– 18110037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97467" y="2067694"/>
            <a:ext cx="4482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Members :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406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0"/>
            <a:ext cx="1547664" cy="5143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2"/>
          <p:cNvSpPr txBox="1">
            <a:spLocks/>
          </p:cNvSpPr>
          <p:nvPr/>
        </p:nvSpPr>
        <p:spPr>
          <a:xfrm>
            <a:off x="3754635" y="438434"/>
            <a:ext cx="3369115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cs typeface="Arial" pitchFamily="34" charset="0"/>
              </a:rPr>
              <a:t>Design Pattern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8513376" y="0"/>
            <a:ext cx="627216" cy="199568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2514675" y="1641962"/>
            <a:ext cx="2803544" cy="453468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ight Triangle 7"/>
          <p:cNvSpPr/>
          <p:nvPr/>
        </p:nvSpPr>
        <p:spPr>
          <a:xfrm rot="5400000">
            <a:off x="2496824" y="1655057"/>
            <a:ext cx="453466" cy="427279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428386" y="1641961"/>
            <a:ext cx="384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1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02007" y="1707490"/>
            <a:ext cx="1651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Factory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931790"/>
            <a:ext cx="1683314" cy="175419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0DD675EC-7334-4FC2-8E3C-E7B9FA0A0EBE}"/>
              </a:ext>
            </a:extLst>
          </p:cNvPr>
          <p:cNvSpPr/>
          <p:nvPr/>
        </p:nvSpPr>
        <p:spPr>
          <a:xfrm>
            <a:off x="2509917" y="2376652"/>
            <a:ext cx="2813060" cy="453468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Right Triangle 33">
            <a:extLst>
              <a:ext uri="{FF2B5EF4-FFF2-40B4-BE49-F238E27FC236}">
                <a16:creationId xmlns:a16="http://schemas.microsoft.com/office/drawing/2014/main" id="{9962DC5B-E545-4C08-800C-0E678E569FB6}"/>
              </a:ext>
            </a:extLst>
          </p:cNvPr>
          <p:cNvSpPr/>
          <p:nvPr/>
        </p:nvSpPr>
        <p:spPr>
          <a:xfrm rot="5400000">
            <a:off x="2492066" y="2389747"/>
            <a:ext cx="453466" cy="427279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6C8F79-D1B7-4C60-9E23-209CFA49B647}"/>
              </a:ext>
            </a:extLst>
          </p:cNvPr>
          <p:cNvSpPr txBox="1"/>
          <p:nvPr/>
        </p:nvSpPr>
        <p:spPr>
          <a:xfrm>
            <a:off x="2423628" y="2376651"/>
            <a:ext cx="384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2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14E34E-A35B-442B-B08F-D27B5755B9FF}"/>
              </a:ext>
            </a:extLst>
          </p:cNvPr>
          <p:cNvSpPr txBox="1"/>
          <p:nvPr/>
        </p:nvSpPr>
        <p:spPr>
          <a:xfrm>
            <a:off x="3297249" y="2442180"/>
            <a:ext cx="1728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Singleton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FDB8326-D612-487B-B8B0-F480DB88566C}"/>
              </a:ext>
            </a:extLst>
          </p:cNvPr>
          <p:cNvSpPr/>
          <p:nvPr/>
        </p:nvSpPr>
        <p:spPr>
          <a:xfrm>
            <a:off x="2505159" y="3179640"/>
            <a:ext cx="2813060" cy="453468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6DE10123-6678-4A67-A57B-94FD90DB9A9E}"/>
              </a:ext>
            </a:extLst>
          </p:cNvPr>
          <p:cNvSpPr/>
          <p:nvPr/>
        </p:nvSpPr>
        <p:spPr>
          <a:xfrm rot="5400000">
            <a:off x="2487308" y="3192735"/>
            <a:ext cx="453466" cy="427279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DA787F-75C3-4777-A535-4EB45F569E89}"/>
              </a:ext>
            </a:extLst>
          </p:cNvPr>
          <p:cNvSpPr txBox="1"/>
          <p:nvPr/>
        </p:nvSpPr>
        <p:spPr>
          <a:xfrm>
            <a:off x="2418870" y="3179639"/>
            <a:ext cx="384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3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0B8F56-A7A1-4B5D-A0CA-91A9E4BAE720}"/>
              </a:ext>
            </a:extLst>
          </p:cNvPr>
          <p:cNvSpPr txBox="1"/>
          <p:nvPr/>
        </p:nvSpPr>
        <p:spPr>
          <a:xfrm>
            <a:off x="3292491" y="3245168"/>
            <a:ext cx="1732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Prototype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18F05F-0A5E-4264-853D-6B1C8CAE574B}"/>
              </a:ext>
            </a:extLst>
          </p:cNvPr>
          <p:cNvSpPr/>
          <p:nvPr/>
        </p:nvSpPr>
        <p:spPr>
          <a:xfrm>
            <a:off x="5508104" y="1635646"/>
            <a:ext cx="2813060" cy="453468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07961B57-3864-48E1-85C7-5845F213FA4F}"/>
              </a:ext>
            </a:extLst>
          </p:cNvPr>
          <p:cNvSpPr/>
          <p:nvPr/>
        </p:nvSpPr>
        <p:spPr>
          <a:xfrm rot="5400000">
            <a:off x="5490253" y="1648741"/>
            <a:ext cx="453466" cy="427279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BC79C4-CA33-4005-81D3-F31388D29495}"/>
              </a:ext>
            </a:extLst>
          </p:cNvPr>
          <p:cNvSpPr txBox="1"/>
          <p:nvPr/>
        </p:nvSpPr>
        <p:spPr>
          <a:xfrm>
            <a:off x="5421815" y="1635645"/>
            <a:ext cx="384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4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4FEC09-4BFC-4C08-A143-D1FF57C4D95D}"/>
              </a:ext>
            </a:extLst>
          </p:cNvPr>
          <p:cNvSpPr txBox="1"/>
          <p:nvPr/>
        </p:nvSpPr>
        <p:spPr>
          <a:xfrm>
            <a:off x="6295436" y="1701174"/>
            <a:ext cx="1651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Adapter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58570A6-835F-4933-BA80-A5DF142187CA}"/>
              </a:ext>
            </a:extLst>
          </p:cNvPr>
          <p:cNvSpPr/>
          <p:nvPr/>
        </p:nvSpPr>
        <p:spPr>
          <a:xfrm>
            <a:off x="5508104" y="2438632"/>
            <a:ext cx="2803544" cy="453468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98A7B87D-6D2A-49CD-9496-C5354EBB94E3}"/>
              </a:ext>
            </a:extLst>
          </p:cNvPr>
          <p:cNvSpPr/>
          <p:nvPr/>
        </p:nvSpPr>
        <p:spPr>
          <a:xfrm rot="5400000">
            <a:off x="5490253" y="2451727"/>
            <a:ext cx="453466" cy="427279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FA56B2-084A-4E0D-B161-E1C7ED5C8D68}"/>
              </a:ext>
            </a:extLst>
          </p:cNvPr>
          <p:cNvSpPr txBox="1"/>
          <p:nvPr/>
        </p:nvSpPr>
        <p:spPr>
          <a:xfrm>
            <a:off x="5421815" y="2438631"/>
            <a:ext cx="384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5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788AE9-0696-4245-8ABC-E75AEEB7CF38}"/>
              </a:ext>
            </a:extLst>
          </p:cNvPr>
          <p:cNvSpPr txBox="1"/>
          <p:nvPr/>
        </p:nvSpPr>
        <p:spPr>
          <a:xfrm>
            <a:off x="6295436" y="2504160"/>
            <a:ext cx="1723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Bridge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14E456-4CA0-4D55-A8B4-DD0303ABACCA}"/>
              </a:ext>
            </a:extLst>
          </p:cNvPr>
          <p:cNvSpPr/>
          <p:nvPr/>
        </p:nvSpPr>
        <p:spPr>
          <a:xfrm>
            <a:off x="5525482" y="3179640"/>
            <a:ext cx="2803544" cy="453468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74B2EEB0-CA45-434E-A793-AF680645A319}"/>
              </a:ext>
            </a:extLst>
          </p:cNvPr>
          <p:cNvSpPr/>
          <p:nvPr/>
        </p:nvSpPr>
        <p:spPr>
          <a:xfrm rot="5400000">
            <a:off x="5507631" y="3192735"/>
            <a:ext cx="453466" cy="427279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290510-AA20-4351-BAEF-801A9BBF1918}"/>
              </a:ext>
            </a:extLst>
          </p:cNvPr>
          <p:cNvSpPr txBox="1"/>
          <p:nvPr/>
        </p:nvSpPr>
        <p:spPr>
          <a:xfrm>
            <a:off x="5439193" y="3179639"/>
            <a:ext cx="384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6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8C4521-F398-4C30-9E66-29B05ECD61BB}"/>
              </a:ext>
            </a:extLst>
          </p:cNvPr>
          <p:cNvSpPr txBox="1"/>
          <p:nvPr/>
        </p:nvSpPr>
        <p:spPr>
          <a:xfrm>
            <a:off x="6312814" y="3245168"/>
            <a:ext cx="1723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Visitor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9872" y="210314"/>
            <a:ext cx="9144000" cy="576064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State Diagram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1F78A-D291-42C6-B92C-51D8137D8E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67768" y="786378"/>
            <a:ext cx="6388720" cy="397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96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932040" y="2077028"/>
            <a:ext cx="3168352" cy="989444"/>
          </a:xfrm>
        </p:spPr>
        <p:txBody>
          <a:bodyPr/>
          <a:lstStyle/>
          <a:p>
            <a:r>
              <a:rPr lang="en-US" altLang="ko-KR" dirty="0"/>
              <a:t>Factory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1234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9872" y="210314"/>
            <a:ext cx="9144000" cy="576064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Class Diagram</a:t>
            </a:r>
            <a:endParaRPr lang="ko-KR" altLang="en-US" dirty="0"/>
          </a:p>
        </p:txBody>
      </p:sp>
      <p:pic>
        <p:nvPicPr>
          <p:cNvPr id="19" name="Picture Placeholder 3" descr="Diagram&#10;&#10;Description automatically generated">
            <a:extLst>
              <a:ext uri="{FF2B5EF4-FFF2-40B4-BE49-F238E27FC236}">
                <a16:creationId xmlns:a16="http://schemas.microsoft.com/office/drawing/2014/main" id="{7A70A9FF-9BD8-46D2-873A-8EBF188F4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9" b="5999"/>
          <a:stretch>
            <a:fillRect/>
          </a:stretch>
        </p:blipFill>
        <p:spPr>
          <a:xfrm>
            <a:off x="611559" y="1168455"/>
            <a:ext cx="3271427" cy="3278078"/>
          </a:xfrm>
          <a:prstGeom prst="rect">
            <a:avLst/>
          </a:prstGeom>
        </p:spPr>
      </p:pic>
      <p:pic>
        <p:nvPicPr>
          <p:cNvPr id="20" name="Picture 19" descr="Diagram&#10;&#10;Description automatically generated">
            <a:extLst>
              <a:ext uri="{FF2B5EF4-FFF2-40B4-BE49-F238E27FC236}">
                <a16:creationId xmlns:a16="http://schemas.microsoft.com/office/drawing/2014/main" id="{390857AB-39E6-42D3-BC38-C8A594E2E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440855"/>
            <a:ext cx="3396532" cy="226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669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114386" y="1058055"/>
            <a:ext cx="1440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accent1"/>
                </a:solidFill>
                <a:cs typeface="Arial" pitchFamily="34" charset="0"/>
              </a:rPr>
              <a:t>ConcreteProduct</a:t>
            </a:r>
            <a:endParaRPr lang="ko-KR" alt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7886" y="1055162"/>
            <a:ext cx="3180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This is a class that implements the Product interface.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81910" y="1506478"/>
            <a:ext cx="1017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Product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7886" y="1506478"/>
            <a:ext cx="3180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defines the interface of objects the factory method creates.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81910" y="1951091"/>
            <a:ext cx="1017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3"/>
                </a:solidFill>
                <a:cs typeface="Arial" pitchFamily="34" charset="0"/>
              </a:rPr>
              <a:t>Creator</a:t>
            </a:r>
            <a:endParaRPr lang="ko-KR" altLang="en-US" sz="1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24810" y="1957795"/>
            <a:ext cx="3183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This is an abstract class and declares the factory method, which returns an object of type Product.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14386" y="2691625"/>
            <a:ext cx="1440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accent4"/>
                </a:solidFill>
                <a:cs typeface="Arial" pitchFamily="34" charset="0"/>
              </a:rPr>
              <a:t>ConcreteCreator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27886" y="2675761"/>
            <a:ext cx="318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This is a class that implements the Creator class and overrides the factory method to return an instance of a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ConcreteProduct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1E6656-B271-48F6-8EC1-F44A8EADA54D}"/>
              </a:ext>
            </a:extLst>
          </p:cNvPr>
          <p:cNvSpPr txBox="1"/>
          <p:nvPr/>
        </p:nvSpPr>
        <p:spPr>
          <a:xfrm>
            <a:off x="2267744" y="3808447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Create objects without exposing the instantiation logic to the client.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Refers to the newly created object through a common interface.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ACC8C9-2206-4837-9443-952E2372DA39}"/>
              </a:ext>
            </a:extLst>
          </p:cNvPr>
          <p:cNvSpPr txBox="1"/>
          <p:nvPr/>
        </p:nvSpPr>
        <p:spPr>
          <a:xfrm>
            <a:off x="1612992" y="3487917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Characteristic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41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pic>
        <p:nvPicPr>
          <p:cNvPr id="1026" name="Picture 19">
            <a:extLst>
              <a:ext uri="{FF2B5EF4-FFF2-40B4-BE49-F238E27FC236}">
                <a16:creationId xmlns:a16="http://schemas.microsoft.com/office/drawing/2014/main" id="{395C83B7-B924-4374-8834-157082C70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707654"/>
            <a:ext cx="3960440" cy="2874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38F37-B835-4501-967D-4C3EB5A94B8C}"/>
              </a:ext>
            </a:extLst>
          </p:cNvPr>
          <p:cNvSpPr txBox="1"/>
          <p:nvPr/>
        </p:nvSpPr>
        <p:spPr>
          <a:xfrm>
            <a:off x="5400092" y="1213123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Main function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995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pic>
        <p:nvPicPr>
          <p:cNvPr id="2050" name="Picture 20">
            <a:extLst>
              <a:ext uri="{FF2B5EF4-FFF2-40B4-BE49-F238E27FC236}">
                <a16:creationId xmlns:a16="http://schemas.microsoft.com/office/drawing/2014/main" id="{15898153-1F04-4057-98AB-5280F3C37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779662"/>
            <a:ext cx="5057651" cy="2638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6D8715-2E6A-4567-8E4E-578B5AB269A6}"/>
              </a:ext>
            </a:extLst>
          </p:cNvPr>
          <p:cNvSpPr txBox="1"/>
          <p:nvPr/>
        </p:nvSpPr>
        <p:spPr>
          <a:xfrm>
            <a:off x="5689222" y="128112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Product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60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pic>
        <p:nvPicPr>
          <p:cNvPr id="3074" name="Picture 21">
            <a:extLst>
              <a:ext uri="{FF2B5EF4-FFF2-40B4-BE49-F238E27FC236}">
                <a16:creationId xmlns:a16="http://schemas.microsoft.com/office/drawing/2014/main" id="{9A27BA0D-F2F4-45AC-96BF-CF0C0EAEA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87" y="2067694"/>
            <a:ext cx="5265737" cy="1677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4A5AB2-43A3-4DE1-95C6-760701FAE0A6}"/>
              </a:ext>
            </a:extLst>
          </p:cNvPr>
          <p:cNvSpPr txBox="1"/>
          <p:nvPr/>
        </p:nvSpPr>
        <p:spPr>
          <a:xfrm>
            <a:off x="5280442" y="1343366"/>
            <a:ext cx="1739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schemeClr val="accent1"/>
                </a:solidFill>
                <a:cs typeface="Arial" pitchFamily="34" charset="0"/>
              </a:rPr>
              <a:t>ConcreteProduct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238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57531" y="4280177"/>
            <a:ext cx="475700" cy="4957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4A5AB2-43A3-4DE1-95C6-760701FAE0A6}"/>
              </a:ext>
            </a:extLst>
          </p:cNvPr>
          <p:cNvSpPr txBox="1"/>
          <p:nvPr/>
        </p:nvSpPr>
        <p:spPr>
          <a:xfrm>
            <a:off x="6862460" y="3494451"/>
            <a:ext cx="1229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  <a:cs typeface="Arial" pitchFamily="34" charset="0"/>
              </a:rPr>
              <a:t>Methods</a:t>
            </a:r>
            <a:endParaRPr lang="ko-KR" altLang="en-US" sz="20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4098" name="Picture 22">
            <a:extLst>
              <a:ext uri="{FF2B5EF4-FFF2-40B4-BE49-F238E27FC236}">
                <a16:creationId xmlns:a16="http://schemas.microsoft.com/office/drawing/2014/main" id="{68027267-7021-414D-B228-7DCF168D9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5468" y="357093"/>
            <a:ext cx="2587210" cy="2056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23">
            <a:extLst>
              <a:ext uri="{FF2B5EF4-FFF2-40B4-BE49-F238E27FC236}">
                <a16:creationId xmlns:a16="http://schemas.microsoft.com/office/drawing/2014/main" id="{397730C4-E000-483B-874B-D7CC85B7D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650" y="353314"/>
            <a:ext cx="2763041" cy="2056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28">
            <a:extLst>
              <a:ext uri="{FF2B5EF4-FFF2-40B4-BE49-F238E27FC236}">
                <a16:creationId xmlns:a16="http://schemas.microsoft.com/office/drawing/2014/main" id="{729B5F97-9BD0-48B8-8F57-DE54EA80C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3320" y="2966286"/>
            <a:ext cx="2730691" cy="1869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0743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4A5AB2-43A3-4DE1-95C6-760701FAE0A6}"/>
              </a:ext>
            </a:extLst>
          </p:cNvPr>
          <p:cNvSpPr txBox="1"/>
          <p:nvPr/>
        </p:nvSpPr>
        <p:spPr>
          <a:xfrm>
            <a:off x="5580112" y="1319542"/>
            <a:ext cx="996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Creator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5122" name="Picture 29">
            <a:extLst>
              <a:ext uri="{FF2B5EF4-FFF2-40B4-BE49-F238E27FC236}">
                <a16:creationId xmlns:a16="http://schemas.microsoft.com/office/drawing/2014/main" id="{9E1F46B1-F986-4065-84A9-58FE37836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87" y="2060048"/>
            <a:ext cx="5265737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6902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4A5AB2-43A3-4DE1-95C6-760701FAE0A6}"/>
              </a:ext>
            </a:extLst>
          </p:cNvPr>
          <p:cNvSpPr txBox="1"/>
          <p:nvPr/>
        </p:nvSpPr>
        <p:spPr>
          <a:xfrm>
            <a:off x="5142244" y="1371400"/>
            <a:ext cx="1716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schemeClr val="accent1"/>
                </a:solidFill>
                <a:cs typeface="Arial" pitchFamily="34" charset="0"/>
              </a:rPr>
              <a:t>ConcreteCreator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6146" name="Picture 30">
            <a:extLst>
              <a:ext uri="{FF2B5EF4-FFF2-40B4-BE49-F238E27FC236}">
                <a16:creationId xmlns:a16="http://schemas.microsoft.com/office/drawing/2014/main" id="{B2D4E878-C8F5-47DF-8AF4-D34F8FB7E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073342"/>
            <a:ext cx="5265737" cy="167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0518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16416" y="4283728"/>
            <a:ext cx="475700" cy="4957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4A5AB2-43A3-4DE1-95C6-760701FAE0A6}"/>
              </a:ext>
            </a:extLst>
          </p:cNvPr>
          <p:cNvSpPr txBox="1"/>
          <p:nvPr/>
        </p:nvSpPr>
        <p:spPr>
          <a:xfrm>
            <a:off x="6880369" y="3437873"/>
            <a:ext cx="12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  <a:cs typeface="Arial" pitchFamily="34" charset="0"/>
              </a:rPr>
              <a:t>Factory</a:t>
            </a:r>
            <a:endParaRPr lang="ko-KR" altLang="en-US" sz="20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7170" name="Picture 31">
            <a:extLst>
              <a:ext uri="{FF2B5EF4-FFF2-40B4-BE49-F238E27FC236}">
                <a16:creationId xmlns:a16="http://schemas.microsoft.com/office/drawing/2014/main" id="{55F8ED87-29CE-483F-8B39-40A6FD104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591" y="361135"/>
            <a:ext cx="2585087" cy="2048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2">
            <a:extLst>
              <a:ext uri="{FF2B5EF4-FFF2-40B4-BE49-F238E27FC236}">
                <a16:creationId xmlns:a16="http://schemas.microsoft.com/office/drawing/2014/main" id="{E8EC7C72-A1EC-4529-BC95-F695648B1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092" y="364043"/>
            <a:ext cx="2730691" cy="2045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33">
            <a:extLst>
              <a:ext uri="{FF2B5EF4-FFF2-40B4-BE49-F238E27FC236}">
                <a16:creationId xmlns:a16="http://schemas.microsoft.com/office/drawing/2014/main" id="{3733CD99-2756-4515-AB7A-AAF5C87A8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355" y="2973833"/>
            <a:ext cx="2582324" cy="1856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8596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932040" y="2077028"/>
            <a:ext cx="3168352" cy="989444"/>
          </a:xfrm>
        </p:spPr>
        <p:txBody>
          <a:bodyPr/>
          <a:lstStyle/>
          <a:p>
            <a:r>
              <a:rPr lang="en-US" altLang="ko-KR" dirty="0"/>
              <a:t>Singleton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8107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9872" y="210314"/>
            <a:ext cx="9144000" cy="576064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Class Diagram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538420" y="1440908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After login successfully, I will use singleton pattern for getting information of user from database.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DDEC6-97CD-4EB6-AB4B-EA6F9BCA42FC}"/>
              </a:ext>
            </a:extLst>
          </p:cNvPr>
          <p:cNvSpPr txBox="1"/>
          <p:nvPr/>
        </p:nvSpPr>
        <p:spPr>
          <a:xfrm>
            <a:off x="251520" y="1491630"/>
            <a:ext cx="4104456" cy="2137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24D92-0A85-4CFD-9E89-144FB1974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420" y="2355726"/>
            <a:ext cx="3836894" cy="154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41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DDEC6-97CD-4EB6-AB4B-EA6F9BCA42FC}"/>
              </a:ext>
            </a:extLst>
          </p:cNvPr>
          <p:cNvSpPr txBox="1"/>
          <p:nvPr/>
        </p:nvSpPr>
        <p:spPr>
          <a:xfrm>
            <a:off x="395536" y="1275607"/>
            <a:ext cx="3630326" cy="2520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1E6656-B271-48F6-8EC1-F44A8EADA54D}"/>
              </a:ext>
            </a:extLst>
          </p:cNvPr>
          <p:cNvSpPr txBox="1"/>
          <p:nvPr/>
        </p:nvSpPr>
        <p:spPr>
          <a:xfrm>
            <a:off x="4025862" y="2950184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Ensure that only one instance of a class is created.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Provide a global point of access to the object.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ACC8C9-2206-4837-9443-952E2372DA39}"/>
              </a:ext>
            </a:extLst>
          </p:cNvPr>
          <p:cNvSpPr txBox="1"/>
          <p:nvPr/>
        </p:nvSpPr>
        <p:spPr>
          <a:xfrm>
            <a:off x="4052323" y="2535747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Characteristic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6F7C02-3BF2-4C0D-BFA4-95A0E82FB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97" y="1260155"/>
            <a:ext cx="3272805" cy="23622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D3E3E95-1A5B-4FC7-A6AB-0117EF01EA33}"/>
              </a:ext>
            </a:extLst>
          </p:cNvPr>
          <p:cNvSpPr txBox="1"/>
          <p:nvPr/>
        </p:nvSpPr>
        <p:spPr>
          <a:xfrm>
            <a:off x="4139952" y="1326129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Reason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D4410F-017A-4E2B-A6B1-826E62511309}"/>
              </a:ext>
            </a:extLst>
          </p:cNvPr>
          <p:cNvSpPr txBox="1"/>
          <p:nvPr/>
        </p:nvSpPr>
        <p:spPr>
          <a:xfrm>
            <a:off x="4025862" y="1740566"/>
            <a:ext cx="489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Use this pattern to get some necessary information of user and save it in User class and public all of information without connecting to database in many time.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46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38F37-B835-4501-967D-4C3EB5A94B8C}"/>
              </a:ext>
            </a:extLst>
          </p:cNvPr>
          <p:cNvSpPr txBox="1"/>
          <p:nvPr/>
        </p:nvSpPr>
        <p:spPr>
          <a:xfrm>
            <a:off x="5364088" y="1318376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Main Function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8195" name="Picture 42">
            <a:extLst>
              <a:ext uri="{FF2B5EF4-FFF2-40B4-BE49-F238E27FC236}">
                <a16:creationId xmlns:a16="http://schemas.microsoft.com/office/drawing/2014/main" id="{82752B19-6DF7-4F43-B0A6-F4461209E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069772"/>
            <a:ext cx="527367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0666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38F37-B835-4501-967D-4C3EB5A94B8C}"/>
              </a:ext>
            </a:extLst>
          </p:cNvPr>
          <p:cNvSpPr txBox="1"/>
          <p:nvPr/>
        </p:nvSpPr>
        <p:spPr>
          <a:xfrm>
            <a:off x="5724128" y="1363081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User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9218" name="Picture 40">
            <a:extLst>
              <a:ext uri="{FF2B5EF4-FFF2-40B4-BE49-F238E27FC236}">
                <a16:creationId xmlns:a16="http://schemas.microsoft.com/office/drawing/2014/main" id="{3119EF8E-2CDC-4069-A8DE-BA628C2AB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256" y="2047981"/>
            <a:ext cx="52578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4373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38F37-B835-4501-967D-4C3EB5A94B8C}"/>
              </a:ext>
            </a:extLst>
          </p:cNvPr>
          <p:cNvSpPr txBox="1"/>
          <p:nvPr/>
        </p:nvSpPr>
        <p:spPr>
          <a:xfrm>
            <a:off x="5088785" y="1235351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schemeClr val="accent1"/>
                </a:solidFill>
                <a:cs typeface="Arial" pitchFamily="34" charset="0"/>
              </a:rPr>
              <a:t>UserInformation</a:t>
            </a:r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 function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10242" name="Picture 41">
            <a:extLst>
              <a:ext uri="{FF2B5EF4-FFF2-40B4-BE49-F238E27FC236}">
                <a16:creationId xmlns:a16="http://schemas.microsoft.com/office/drawing/2014/main" id="{4C6743FF-E5AD-43AD-B580-BF2C92D71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746" y="1718897"/>
            <a:ext cx="5265737" cy="269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5695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38F37-B835-4501-967D-4C3EB5A94B8C}"/>
              </a:ext>
            </a:extLst>
          </p:cNvPr>
          <p:cNvSpPr txBox="1"/>
          <p:nvPr/>
        </p:nvSpPr>
        <p:spPr>
          <a:xfrm>
            <a:off x="4572000" y="1239863"/>
            <a:ext cx="3181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schemeClr val="accent1"/>
                </a:solidFill>
                <a:cs typeface="Arial" pitchFamily="34" charset="0"/>
              </a:rPr>
              <a:t>ThreadSafetySingleton</a:t>
            </a:r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 Function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11266" name="Picture 39">
            <a:extLst>
              <a:ext uri="{FF2B5EF4-FFF2-40B4-BE49-F238E27FC236}">
                <a16:creationId xmlns:a16="http://schemas.microsoft.com/office/drawing/2014/main" id="{3DB344B7-E411-4FF7-BFB8-1CB78549C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1727922"/>
            <a:ext cx="4337571" cy="2944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4812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932040" y="2077028"/>
            <a:ext cx="3168352" cy="989444"/>
          </a:xfrm>
        </p:spPr>
        <p:txBody>
          <a:bodyPr/>
          <a:lstStyle/>
          <a:p>
            <a:r>
              <a:rPr lang="en-US" altLang="ko-KR" dirty="0"/>
              <a:t>Prototype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1555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9872" y="210314"/>
            <a:ext cx="9144000" cy="576064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Class Diagram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236296" y="1498980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Offlinepayment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DDEC6-97CD-4EB6-AB4B-EA6F9BCA42FC}"/>
              </a:ext>
            </a:extLst>
          </p:cNvPr>
          <p:cNvSpPr txBox="1"/>
          <p:nvPr/>
        </p:nvSpPr>
        <p:spPr>
          <a:xfrm>
            <a:off x="251520" y="1491630"/>
            <a:ext cx="4104456" cy="2137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7A080F-3479-4916-8664-4022A568D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96" y="1203598"/>
            <a:ext cx="3917860" cy="27975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39351E-9752-467B-A767-59A852FFDC07}"/>
              </a:ext>
            </a:extLst>
          </p:cNvPr>
          <p:cNvSpPr txBox="1"/>
          <p:nvPr/>
        </p:nvSpPr>
        <p:spPr>
          <a:xfrm>
            <a:off x="4860032" y="1203598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Reason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22DE91-F05C-4CA9-95B4-68D96D82AAC4}"/>
              </a:ext>
            </a:extLst>
          </p:cNvPr>
          <p:cNvSpPr txBox="1"/>
          <p:nvPr/>
        </p:nvSpPr>
        <p:spPr>
          <a:xfrm>
            <a:off x="7236296" y="1923678"/>
            <a:ext cx="15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CreditCardPayment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7752B3-21A7-491F-98D2-7DA29C9A9B56}"/>
              </a:ext>
            </a:extLst>
          </p:cNvPr>
          <p:cNvSpPr txBox="1"/>
          <p:nvPr/>
        </p:nvSpPr>
        <p:spPr>
          <a:xfrm>
            <a:off x="4978108" y="160051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Instead of creating 2 method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CFA2B7-BF7D-4B31-A72E-E6733F2139BD}"/>
              </a:ext>
            </a:extLst>
          </p:cNvPr>
          <p:cNvCxnSpPr/>
          <p:nvPr/>
        </p:nvCxnSpPr>
        <p:spPr>
          <a:xfrm flipV="1">
            <a:off x="6804248" y="1707654"/>
            <a:ext cx="360040" cy="68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D6E9DE-A864-441E-8F80-AF07CB4E2E8A}"/>
              </a:ext>
            </a:extLst>
          </p:cNvPr>
          <p:cNvCxnSpPr>
            <a:cxnSpLocks/>
          </p:cNvCxnSpPr>
          <p:nvPr/>
        </p:nvCxnSpPr>
        <p:spPr>
          <a:xfrm>
            <a:off x="6797911" y="1788224"/>
            <a:ext cx="334625" cy="207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2278D58-F04C-42FA-B71E-F70C22D5C30B}"/>
              </a:ext>
            </a:extLst>
          </p:cNvPr>
          <p:cNvSpPr txBox="1"/>
          <p:nvPr/>
        </p:nvSpPr>
        <p:spPr>
          <a:xfrm>
            <a:off x="4978108" y="2283188"/>
            <a:ext cx="4104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This will lead to looping and not maintain for long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3E3C4C-2CC8-409D-B54E-D62715E1F5B4}"/>
              </a:ext>
            </a:extLst>
          </p:cNvPr>
          <p:cNvSpPr txBox="1"/>
          <p:nvPr/>
        </p:nvSpPr>
        <p:spPr>
          <a:xfrm>
            <a:off x="4860032" y="2709189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Characteristic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F624C2-9632-4938-8A7D-AA81CEFB8D72}"/>
              </a:ext>
            </a:extLst>
          </p:cNvPr>
          <p:cNvSpPr txBox="1"/>
          <p:nvPr/>
        </p:nvSpPr>
        <p:spPr>
          <a:xfrm>
            <a:off x="4978108" y="3059936"/>
            <a:ext cx="3914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Create objects from a Prototype object by copying the properties of that object.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15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38F37-B835-4501-967D-4C3EB5A94B8C}"/>
              </a:ext>
            </a:extLst>
          </p:cNvPr>
          <p:cNvSpPr txBox="1"/>
          <p:nvPr/>
        </p:nvSpPr>
        <p:spPr>
          <a:xfrm>
            <a:off x="5364088" y="1319542"/>
            <a:ext cx="2448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Run Function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12290" name="Picture 48">
            <a:extLst>
              <a:ext uri="{FF2B5EF4-FFF2-40B4-BE49-F238E27FC236}">
                <a16:creationId xmlns:a16="http://schemas.microsoft.com/office/drawing/2014/main" id="{5EF12B2A-4D2E-442A-A54D-D6DF8CE6C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380441"/>
            <a:ext cx="5273675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1519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38F37-B835-4501-967D-4C3EB5A94B8C}"/>
              </a:ext>
            </a:extLst>
          </p:cNvPr>
          <p:cNvSpPr txBox="1"/>
          <p:nvPr/>
        </p:nvSpPr>
        <p:spPr>
          <a:xfrm>
            <a:off x="5364088" y="1213123"/>
            <a:ext cx="2448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Payment Function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13314" name="Picture 47">
            <a:extLst>
              <a:ext uri="{FF2B5EF4-FFF2-40B4-BE49-F238E27FC236}">
                <a16:creationId xmlns:a16="http://schemas.microsoft.com/office/drawing/2014/main" id="{AC0C9C7C-1C58-451D-A12E-D55BE3087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1674441"/>
            <a:ext cx="4363468" cy="3113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5646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38F37-B835-4501-967D-4C3EB5A94B8C}"/>
              </a:ext>
            </a:extLst>
          </p:cNvPr>
          <p:cNvSpPr txBox="1"/>
          <p:nvPr/>
        </p:nvSpPr>
        <p:spPr>
          <a:xfrm>
            <a:off x="5292080" y="1319542"/>
            <a:ext cx="2448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Type of Payment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14338" name="Picture 46">
            <a:extLst>
              <a:ext uri="{FF2B5EF4-FFF2-40B4-BE49-F238E27FC236}">
                <a16:creationId xmlns:a16="http://schemas.microsoft.com/office/drawing/2014/main" id="{978C82A2-E9FC-4A8E-A054-DDD60EE20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87" y="2067694"/>
            <a:ext cx="5265737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800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932040" y="2077028"/>
            <a:ext cx="3168352" cy="989444"/>
          </a:xfrm>
        </p:spPr>
        <p:txBody>
          <a:bodyPr/>
          <a:lstStyle/>
          <a:p>
            <a:r>
              <a:rPr lang="en-US" altLang="ko-KR" dirty="0"/>
              <a:t>Adapter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49948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9872" y="210314"/>
            <a:ext cx="9144000" cy="576064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Class Diagram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DDEC6-97CD-4EB6-AB4B-EA6F9BCA42FC}"/>
              </a:ext>
            </a:extLst>
          </p:cNvPr>
          <p:cNvSpPr txBox="1"/>
          <p:nvPr/>
        </p:nvSpPr>
        <p:spPr>
          <a:xfrm>
            <a:off x="683568" y="843558"/>
            <a:ext cx="2952328" cy="3456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9351E-9752-467B-A767-59A852FFDC07}"/>
              </a:ext>
            </a:extLst>
          </p:cNvPr>
          <p:cNvSpPr txBox="1"/>
          <p:nvPr/>
        </p:nvSpPr>
        <p:spPr>
          <a:xfrm>
            <a:off x="4237900" y="1155087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Reason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7752B3-21A7-491F-98D2-7DA29C9A9B56}"/>
              </a:ext>
            </a:extLst>
          </p:cNvPr>
          <p:cNvSpPr txBox="1"/>
          <p:nvPr/>
        </p:nvSpPr>
        <p:spPr>
          <a:xfrm>
            <a:off x="4358882" y="2699579"/>
            <a:ext cx="3672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Adapter is recognizable by a constructor which takes an instance of a different abstract/ interface type. When the adapter receives a call to any of its method, it translates parameters to the appropriate format and then directs the call to one or several methods of the wrapped object.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3E3C4C-2CC8-409D-B54E-D62715E1F5B4}"/>
              </a:ext>
            </a:extLst>
          </p:cNvPr>
          <p:cNvSpPr txBox="1"/>
          <p:nvPr/>
        </p:nvSpPr>
        <p:spPr>
          <a:xfrm>
            <a:off x="4237900" y="2433249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Characteristic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F624C2-9632-4938-8A7D-AA81CEFB8D72}"/>
              </a:ext>
            </a:extLst>
          </p:cNvPr>
          <p:cNvSpPr txBox="1"/>
          <p:nvPr/>
        </p:nvSpPr>
        <p:spPr>
          <a:xfrm>
            <a:off x="4358882" y="1522541"/>
            <a:ext cx="3914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Other class which is need to send information or update user information can use ITarget interface. This can help you control easily your code.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FF792-6A41-4FB4-965E-5C1CA2A1B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25" y="1019656"/>
            <a:ext cx="2554399" cy="310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53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38F37-B835-4501-967D-4C3EB5A94B8C}"/>
              </a:ext>
            </a:extLst>
          </p:cNvPr>
          <p:cNvSpPr txBox="1"/>
          <p:nvPr/>
        </p:nvSpPr>
        <p:spPr>
          <a:xfrm>
            <a:off x="5364088" y="1319542"/>
            <a:ext cx="2448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Run Function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15362" name="Picture 51">
            <a:extLst>
              <a:ext uri="{FF2B5EF4-FFF2-40B4-BE49-F238E27FC236}">
                <a16:creationId xmlns:a16="http://schemas.microsoft.com/office/drawing/2014/main" id="{4F125F8F-DD78-40BC-90C4-338B1DF26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684" y="2211710"/>
            <a:ext cx="5273675" cy="159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6611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38F37-B835-4501-967D-4C3EB5A94B8C}"/>
              </a:ext>
            </a:extLst>
          </p:cNvPr>
          <p:cNvSpPr txBox="1"/>
          <p:nvPr/>
        </p:nvSpPr>
        <p:spPr>
          <a:xfrm>
            <a:off x="5364088" y="1457386"/>
            <a:ext cx="1571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schemeClr val="accent1"/>
                </a:solidFill>
                <a:cs typeface="Arial" pitchFamily="34" charset="0"/>
              </a:rPr>
              <a:t>Itarget</a:t>
            </a:r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 interface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16386" name="Picture 49">
            <a:extLst>
              <a:ext uri="{FF2B5EF4-FFF2-40B4-BE49-F238E27FC236}">
                <a16:creationId xmlns:a16="http://schemas.microsoft.com/office/drawing/2014/main" id="{850AE4EB-C3B9-4ACE-ABD2-AE94D7E8C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590" y="2211710"/>
            <a:ext cx="5249863" cy="191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1819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38F37-B835-4501-967D-4C3EB5A94B8C}"/>
              </a:ext>
            </a:extLst>
          </p:cNvPr>
          <p:cNvSpPr txBox="1"/>
          <p:nvPr/>
        </p:nvSpPr>
        <p:spPr>
          <a:xfrm>
            <a:off x="5292080" y="1213123"/>
            <a:ext cx="18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Registration class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17410" name="Picture 50">
            <a:extLst>
              <a:ext uri="{FF2B5EF4-FFF2-40B4-BE49-F238E27FC236}">
                <a16:creationId xmlns:a16="http://schemas.microsoft.com/office/drawing/2014/main" id="{6CC15557-E949-4D53-BC82-F6457E02C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997" y="1680220"/>
            <a:ext cx="4700317" cy="3105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1441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932040" y="2077028"/>
            <a:ext cx="3168352" cy="989444"/>
          </a:xfrm>
        </p:spPr>
        <p:txBody>
          <a:bodyPr/>
          <a:lstStyle/>
          <a:p>
            <a:r>
              <a:rPr lang="en-US" altLang="ko-KR" dirty="0"/>
              <a:t>Bridge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39139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9872" y="210314"/>
            <a:ext cx="9144000" cy="576064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Class Diagram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DDEC6-97CD-4EB6-AB4B-EA6F9BCA42FC}"/>
              </a:ext>
            </a:extLst>
          </p:cNvPr>
          <p:cNvSpPr txBox="1"/>
          <p:nvPr/>
        </p:nvSpPr>
        <p:spPr>
          <a:xfrm>
            <a:off x="251520" y="987574"/>
            <a:ext cx="3842364" cy="2990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9351E-9752-467B-A767-59A852FFDC07}"/>
              </a:ext>
            </a:extLst>
          </p:cNvPr>
          <p:cNvSpPr txBox="1"/>
          <p:nvPr/>
        </p:nvSpPr>
        <p:spPr>
          <a:xfrm>
            <a:off x="4237900" y="1155087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Reason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7752B3-21A7-491F-98D2-7DA29C9A9B56}"/>
              </a:ext>
            </a:extLst>
          </p:cNvPr>
          <p:cNvSpPr txBox="1"/>
          <p:nvPr/>
        </p:nvSpPr>
        <p:spPr>
          <a:xfrm>
            <a:off x="4358882" y="2699579"/>
            <a:ext cx="367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Bridge can be recognized by a clear distinction between some controlling entity and several different platforms that it relies 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3E3C4C-2CC8-409D-B54E-D62715E1F5B4}"/>
              </a:ext>
            </a:extLst>
          </p:cNvPr>
          <p:cNvSpPr txBox="1"/>
          <p:nvPr/>
        </p:nvSpPr>
        <p:spPr>
          <a:xfrm>
            <a:off x="4237900" y="2433249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Characteristic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F624C2-9632-4938-8A7D-AA81CEFB8D72}"/>
              </a:ext>
            </a:extLst>
          </p:cNvPr>
          <p:cNvSpPr txBox="1"/>
          <p:nvPr/>
        </p:nvSpPr>
        <p:spPr>
          <a:xfrm>
            <a:off x="4358882" y="1522541"/>
            <a:ext cx="3914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After login user and manage will have different screen because they are different position, so bridge in this case is suitable.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8A7890-BC31-4D5C-9CC4-FA31E6AC6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93586"/>
            <a:ext cx="3612993" cy="271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8729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38F37-B835-4501-967D-4C3EB5A94B8C}"/>
              </a:ext>
            </a:extLst>
          </p:cNvPr>
          <p:cNvSpPr txBox="1"/>
          <p:nvPr/>
        </p:nvSpPr>
        <p:spPr>
          <a:xfrm>
            <a:off x="5059145" y="1473430"/>
            <a:ext cx="2435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schemeClr val="accent1"/>
                </a:solidFill>
                <a:cs typeface="Arial" pitchFamily="34" charset="0"/>
              </a:rPr>
              <a:t>IIImplementation</a:t>
            </a:r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 interface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7" name="Picture 54">
            <a:extLst>
              <a:ext uri="{FF2B5EF4-FFF2-40B4-BE49-F238E27FC236}">
                <a16:creationId xmlns:a16="http://schemas.microsoft.com/office/drawing/2014/main" id="{94619792-F5FE-4940-B407-3EC52163F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279290"/>
            <a:ext cx="4876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91389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38F37-B835-4501-967D-4C3EB5A94B8C}"/>
              </a:ext>
            </a:extLst>
          </p:cNvPr>
          <p:cNvSpPr txBox="1"/>
          <p:nvPr/>
        </p:nvSpPr>
        <p:spPr>
          <a:xfrm>
            <a:off x="5376817" y="1213123"/>
            <a:ext cx="18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Insert here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18435" name="Picture 55">
            <a:extLst>
              <a:ext uri="{FF2B5EF4-FFF2-40B4-BE49-F238E27FC236}">
                <a16:creationId xmlns:a16="http://schemas.microsoft.com/office/drawing/2014/main" id="{CC4C1969-7357-40FD-83EE-16724E621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707654"/>
            <a:ext cx="4680520" cy="3036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2111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38F37-B835-4501-967D-4C3EB5A94B8C}"/>
              </a:ext>
            </a:extLst>
          </p:cNvPr>
          <p:cNvSpPr txBox="1"/>
          <p:nvPr/>
        </p:nvSpPr>
        <p:spPr>
          <a:xfrm>
            <a:off x="4992410" y="1193039"/>
            <a:ext cx="2016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Abstraction class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19458" name="Picture 56">
            <a:extLst>
              <a:ext uri="{FF2B5EF4-FFF2-40B4-BE49-F238E27FC236}">
                <a16:creationId xmlns:a16="http://schemas.microsoft.com/office/drawing/2014/main" id="{FD139C57-2A88-4D10-8148-36A74F37A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735141"/>
            <a:ext cx="5328592" cy="2946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87942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pic>
        <p:nvPicPr>
          <p:cNvPr id="20482" name="Picture 57">
            <a:extLst>
              <a:ext uri="{FF2B5EF4-FFF2-40B4-BE49-F238E27FC236}">
                <a16:creationId xmlns:a16="http://schemas.microsoft.com/office/drawing/2014/main" id="{1F9BFFB9-5609-41BC-91E3-ED3FFDFC7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491630"/>
            <a:ext cx="3947942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58">
            <a:extLst>
              <a:ext uri="{FF2B5EF4-FFF2-40B4-BE49-F238E27FC236}">
                <a16:creationId xmlns:a16="http://schemas.microsoft.com/office/drawing/2014/main" id="{2D2A1CDE-627A-4674-BA89-F05D18BAA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234226"/>
            <a:ext cx="3978675" cy="1571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2533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932040" y="2077028"/>
            <a:ext cx="3168352" cy="989444"/>
          </a:xfrm>
        </p:spPr>
        <p:txBody>
          <a:bodyPr/>
          <a:lstStyle/>
          <a:p>
            <a:r>
              <a:rPr lang="en-US" altLang="ko-KR" dirty="0"/>
              <a:t>Visitor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77358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213118" y="19038"/>
            <a:ext cx="9144000" cy="576064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Class Diagram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9351E-9752-467B-A767-59A852FFDC07}"/>
              </a:ext>
            </a:extLst>
          </p:cNvPr>
          <p:cNvSpPr txBox="1"/>
          <p:nvPr/>
        </p:nvSpPr>
        <p:spPr>
          <a:xfrm>
            <a:off x="5137492" y="1387298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Reason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7752B3-21A7-491F-98D2-7DA29C9A9B56}"/>
              </a:ext>
            </a:extLst>
          </p:cNvPr>
          <p:cNvSpPr txBox="1"/>
          <p:nvPr/>
        </p:nvSpPr>
        <p:spPr>
          <a:xfrm>
            <a:off x="5250462" y="2731749"/>
            <a:ext cx="36724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The visitor pattern or visitor design pattern is a pattern that will separate an algorithm from the object structure on which it operates. It describes a way to add new operations to existing object structures without modifying the structures themselves.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This characteristic makes visitor patterns a way to implement the open/closed principle (OCP).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3E3C4C-2CC8-409D-B54E-D62715E1F5B4}"/>
              </a:ext>
            </a:extLst>
          </p:cNvPr>
          <p:cNvSpPr txBox="1"/>
          <p:nvPr/>
        </p:nvSpPr>
        <p:spPr>
          <a:xfrm>
            <a:off x="5129480" y="2465419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Characteristic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F624C2-9632-4938-8A7D-AA81CEFB8D72}"/>
              </a:ext>
            </a:extLst>
          </p:cNvPr>
          <p:cNvSpPr txBox="1"/>
          <p:nvPr/>
        </p:nvSpPr>
        <p:spPr>
          <a:xfrm>
            <a:off x="5258474" y="1754752"/>
            <a:ext cx="3914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With the features of the visitor to help implement the payroll function for employees, we decided to choose the visitor pattern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8B19CB18-5C68-44B3-9C82-529381D69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10" y="898525"/>
            <a:ext cx="4529915" cy="334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10900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pic>
        <p:nvPicPr>
          <p:cNvPr id="2050" name="Picture 1">
            <a:extLst>
              <a:ext uri="{FF2B5EF4-FFF2-40B4-BE49-F238E27FC236}">
                <a16:creationId xmlns:a16="http://schemas.microsoft.com/office/drawing/2014/main" id="{98F36D27-FB49-4CBA-B620-A94555409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286" y="1761877"/>
            <a:ext cx="4248472" cy="2320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69757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pic>
        <p:nvPicPr>
          <p:cNvPr id="3074" name="Picture 1">
            <a:extLst>
              <a:ext uri="{FF2B5EF4-FFF2-40B4-BE49-F238E27FC236}">
                <a16:creationId xmlns:a16="http://schemas.microsoft.com/office/drawing/2014/main" id="{432E8E08-C0B8-4387-A4EC-C62FDD0D4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272" y="1210378"/>
            <a:ext cx="527050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01635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pic>
        <p:nvPicPr>
          <p:cNvPr id="4098" name="Picture 1">
            <a:extLst>
              <a:ext uri="{FF2B5EF4-FFF2-40B4-BE49-F238E27FC236}">
                <a16:creationId xmlns:a16="http://schemas.microsoft.com/office/drawing/2014/main" id="{EB3171B4-C1F1-4341-B72F-51E5DC8FC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796" y="1347614"/>
            <a:ext cx="5732720" cy="2811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96530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pic>
        <p:nvPicPr>
          <p:cNvPr id="5122" name="Picture 1">
            <a:extLst>
              <a:ext uri="{FF2B5EF4-FFF2-40B4-BE49-F238E27FC236}">
                <a16:creationId xmlns:a16="http://schemas.microsoft.com/office/drawing/2014/main" id="{5E4D405C-CBAF-4825-93FD-B4CA98CF7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63041"/>
            <a:ext cx="4486275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31012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9755" y="1627319"/>
            <a:ext cx="2232248" cy="144016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C# codes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059832" y="329977"/>
            <a:ext cx="5832648" cy="4536504"/>
          </a:xfrm>
          <a:prstGeom prst="frame">
            <a:avLst>
              <a:gd name="adj1" fmla="val 74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24128" y="483518"/>
            <a:ext cx="552789" cy="576064"/>
          </a:xfrm>
          <a:prstGeom prst="rect">
            <a:avLst/>
          </a:prstGeom>
        </p:spPr>
      </p:pic>
      <p:pic>
        <p:nvPicPr>
          <p:cNvPr id="6146" name="Picture 1">
            <a:extLst>
              <a:ext uri="{FF2B5EF4-FFF2-40B4-BE49-F238E27FC236}">
                <a16:creationId xmlns:a16="http://schemas.microsoft.com/office/drawing/2014/main" id="{918BDBFC-8DA4-4F41-A936-A477F1B90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437641"/>
            <a:ext cx="4104456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15726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15A12"/>
      </a:accent1>
      <a:accent2>
        <a:srgbClr val="D15A12"/>
      </a:accent2>
      <a:accent3>
        <a:srgbClr val="D15A12"/>
      </a:accent3>
      <a:accent4>
        <a:srgbClr val="D15A12"/>
      </a:accent4>
      <a:accent5>
        <a:srgbClr val="D15A12"/>
      </a:accent5>
      <a:accent6>
        <a:srgbClr val="D15A12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15A12"/>
      </a:accent1>
      <a:accent2>
        <a:srgbClr val="D15A12"/>
      </a:accent2>
      <a:accent3>
        <a:srgbClr val="D15A12"/>
      </a:accent3>
      <a:accent4>
        <a:srgbClr val="D15A12"/>
      </a:accent4>
      <a:accent5>
        <a:srgbClr val="D15A12"/>
      </a:accent5>
      <a:accent6>
        <a:srgbClr val="D15A12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15A1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15A12"/>
      </a:accent1>
      <a:accent2>
        <a:srgbClr val="D15A12"/>
      </a:accent2>
      <a:accent3>
        <a:srgbClr val="D15A12"/>
      </a:accent3>
      <a:accent4>
        <a:srgbClr val="D15A12"/>
      </a:accent4>
      <a:accent5>
        <a:srgbClr val="D15A12"/>
      </a:accent5>
      <a:accent6>
        <a:srgbClr val="D15A12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587</Words>
  <Application>Microsoft Office PowerPoint</Application>
  <PresentationFormat>On-screen Show (16:9)</PresentationFormat>
  <Paragraphs>123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맑은 고딕</vt:lpstr>
      <vt:lpstr>Arial</vt:lpstr>
      <vt:lpstr>Roboto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fullhouse</cp:lastModifiedBy>
  <cp:revision>133</cp:revision>
  <dcterms:created xsi:type="dcterms:W3CDTF">2016-12-05T23:26:54Z</dcterms:created>
  <dcterms:modified xsi:type="dcterms:W3CDTF">2021-05-28T13:31:11Z</dcterms:modified>
</cp:coreProperties>
</file>